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8a5d06a-ec70-619a-1a0b-541719e13087}">
          <p14:sldIdLst>
            <p14:sldId id="256"/>
          </p14:sldIdLst>
        </p14:section>
        <p14:section name="Method" id="{10b0292e-6a64-a8cd-5cc0-2a87874bc3ec}">
          <p14:sldIdLst>
            <p14:sldId id="257"/>
            <p14:sldId id="258"/>
          </p14:sldIdLst>
        </p14:section>
        <p14:section name="Results" id="{77f3e635-1dd9-e491-6e55-3b78ffffd5ba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Periods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Build-up / blockage</c:v>
                  </c:pt>
                  <c:pt idx="1">
                    <c:v>Draft instability</c:v>
                  </c:pt>
                  <c:pt idx="2">
                    <c:v>Outlet over-temp.</c:v>
                  </c:pt>
                  <c:pt idx="3">
                    <c:v>Pressure-drop change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6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problem: 6 sensors, 5-minute data, about 3.6 years, and the goal of highlighting abnormal periods.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treatments: fix time order, clean sensor errors, do not invent data, and separate planned shutdowns from running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idea: compare each hour with the plant's own local normal. The median and MAD are not distorted by the faults themselves, and the rolling window follows slow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 periods in about 24,000 running hours. Build-up is the largest group, clustered in Mar–May 2018 and Feb–Mar 2019. Draft instability shows up mostly in early 2017.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Build-up is about 85% of abnormal hours. The slow-rise, sudden-drop pattern matches a blockage growing and then breaking away. ΔT rising days ahead gives a basis for early warning. Draft instability appears without temperature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Cyclone Preheater  ·  Anomaly Detection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Detecting Abnormal Operation in a Cyclone Preheater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Data preparation  ·  Analysis strategy  ·  Insights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Data Preparation</a:t>
            </a:r>
            <a:endParaRPr lang="en-US" sz="3600" dirty="0"/>
          </a:p>
        </p:txBody>
      </p:sp>
      <p:sp>
        <p:nvSpPr>
          <p:cNvPr id="3" name="num0"/>
          <p:cNvSpPr txBox="1"/>
          <p:nvPr/>
        </p:nvSpPr>
        <p:spPr>
          <a:xfrm>
            <a:off x="548640" y="1371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row0"/>
          <p:cNvSpPr txBox="1"/>
          <p:nvPr/>
        </p:nvSpPr>
        <p:spPr>
          <a:xfrm>
            <a:off x="1143000" y="13716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Timestamp alignment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Mixed month-first / day-first text fixed, so rows sit in true 5-minute order.</a:t>
            </a:r>
            <a:endParaRPr lang="en-US" sz="1600" dirty="0"/>
          </a:p>
        </p:txBody>
      </p:sp>
      <p:sp>
        <p:nvSpPr>
          <p:cNvPr id="5" name="num1"/>
          <p:cNvSpPr txBox="1"/>
          <p:nvPr/>
        </p:nvSpPr>
        <p:spPr>
          <a:xfrm>
            <a:off x="548640" y="2176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row1"/>
          <p:cNvSpPr txBox="1"/>
          <p:nvPr/>
        </p:nvSpPr>
        <p:spPr>
          <a:xfrm>
            <a:off x="1143000" y="217627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Sensor error cleaning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Text faults (Not Connect, I/O Timeout) and fake values (0, −185, 1375) set to NaN.</a:t>
            </a:r>
            <a:endParaRPr lang="en-US" sz="1600" dirty="0"/>
          </a:p>
        </p:txBody>
      </p:sp>
      <p:sp>
        <p:nvSpPr>
          <p:cNvPr id="7" name="num2"/>
          <p:cNvSpPr txBox="1"/>
          <p:nvPr/>
        </p:nvSpPr>
        <p:spPr>
          <a:xfrm>
            <a:off x="548640" y="29809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8" name="row2"/>
          <p:cNvSpPr txBox="1"/>
          <p:nvPr/>
        </p:nvSpPr>
        <p:spPr>
          <a:xfrm>
            <a:off x="1143000" y="2980944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Missing data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Gaps left empty, not interpolated; invented data creates fake patterns.</a:t>
            </a:r>
            <a:endParaRPr lang="en-US" sz="1600" dirty="0"/>
          </a:p>
        </p:txBody>
      </p:sp>
      <p:sp>
        <p:nvSpPr>
          <p:cNvPr id="9" name="num3"/>
          <p:cNvSpPr txBox="1"/>
          <p:nvPr/>
        </p:nvSpPr>
        <p:spPr>
          <a:xfrm>
            <a:off x="548640" y="37856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0" name="row3"/>
          <p:cNvSpPr txBox="1"/>
          <p:nvPr/>
        </p:nvSpPr>
        <p:spPr>
          <a:xfrm>
            <a:off x="1143000" y="3785616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Shutdown separation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Kept only hot, fan-pulling hours; dropped 2 h of warm-up after each restart.</a:t>
            </a:r>
            <a:endParaRPr lang="en-US" sz="1600" dirty="0"/>
          </a:p>
        </p:txBody>
      </p:sp>
      <p:sp>
        <p:nvSpPr>
          <p:cNvPr id="11" name="why panel"/>
          <p:cNvSpPr/>
          <p:nvPr/>
        </p:nvSpPr>
        <p:spPr>
          <a:xfrm>
            <a:off x="5760720" y="1371600"/>
            <a:ext cx="2834640" cy="3200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why text"/>
          <p:cNvSpPr txBox="1"/>
          <p:nvPr/>
        </p:nvSpPr>
        <p:spPr>
          <a:xfrm>
            <a:off x="5989320" y="160020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WHY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find “abnormal” until you know “normal.”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A planned shutdown is not a fault; it would swamp the abnormal list.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Correct timestamps keep the sequence physically true.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Analysis Strategy</a:t>
            </a:r>
            <a:endParaRPr lang="en-US" sz="3600" dirty="0"/>
          </a:p>
        </p:txBody>
      </p:sp>
      <p:sp>
        <p:nvSpPr>
          <p:cNvPr id="3" name="card0"/>
          <p:cNvSpPr/>
          <p:nvPr/>
        </p:nvSpPr>
        <p:spPr>
          <a:xfrm>
            <a:off x="548640" y="1371600"/>
            <a:ext cx="1874520" cy="2103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tepnum0"/>
          <p:cNvSpPr txBox="1"/>
          <p:nvPr/>
        </p:nvSpPr>
        <p:spPr>
          <a:xfrm>
            <a:off x="73152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steptext0"/>
          <p:cNvSpPr txBox="1"/>
          <p:nvPr/>
        </p:nvSpPr>
        <p:spPr>
          <a:xfrm>
            <a:off x="731520" y="205740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Physics features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Inlet–outlet gas ΔT, pressure drop and draft variability.</a:t>
            </a:r>
            <a:endParaRPr lang="en-US" sz="1600" dirty="0"/>
          </a:p>
        </p:txBody>
      </p:sp>
      <p:sp>
        <p:nvSpPr>
          <p:cNvPr id="6" name="card1"/>
          <p:cNvSpPr/>
          <p:nvPr/>
        </p:nvSpPr>
        <p:spPr>
          <a:xfrm>
            <a:off x="2606040" y="1371600"/>
            <a:ext cx="1874520" cy="2103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stepnum1"/>
          <p:cNvSpPr txBox="1"/>
          <p:nvPr/>
        </p:nvSpPr>
        <p:spPr>
          <a:xfrm>
            <a:off x="278892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steptext1"/>
          <p:cNvSpPr txBox="1"/>
          <p:nvPr/>
        </p:nvSpPr>
        <p:spPr>
          <a:xfrm>
            <a:off x="2788920" y="205740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Hourly medians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Faults last hours to days; minute-level noise is averaged out.</a:t>
            </a:r>
            <a:endParaRPr lang="en-US" sz="1600" dirty="0"/>
          </a:p>
        </p:txBody>
      </p:sp>
      <p:sp>
        <p:nvSpPr>
          <p:cNvPr id="9" name="card2"/>
          <p:cNvSpPr/>
          <p:nvPr/>
        </p:nvSpPr>
        <p:spPr>
          <a:xfrm>
            <a:off x="4663440" y="1371600"/>
            <a:ext cx="1874520" cy="2103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stepnum2"/>
          <p:cNvSpPr txBox="1"/>
          <p:nvPr/>
        </p:nvSpPr>
        <p:spPr>
          <a:xfrm>
            <a:off x="484632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steptext2"/>
          <p:cNvSpPr txBox="1"/>
          <p:nvPr/>
        </p:nvSpPr>
        <p:spPr>
          <a:xfrm>
            <a:off x="4846320" y="205740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Robust z-score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Distance from the rolling median of the last 45 days, scaled by MAD.</a:t>
            </a:r>
            <a:endParaRPr lang="en-US" sz="1600" dirty="0"/>
          </a:p>
        </p:txBody>
      </p:sp>
      <p:sp>
        <p:nvSpPr>
          <p:cNvPr id="12" name="card3"/>
          <p:cNvSpPr/>
          <p:nvPr/>
        </p:nvSpPr>
        <p:spPr>
          <a:xfrm>
            <a:off x="6720840" y="1371600"/>
            <a:ext cx="1874520" cy="2103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stepnum3"/>
          <p:cNvSpPr txBox="1"/>
          <p:nvPr/>
        </p:nvSpPr>
        <p:spPr>
          <a:xfrm>
            <a:off x="690372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steptext3"/>
          <p:cNvSpPr txBox="1"/>
          <p:nvPr/>
        </p:nvSpPr>
        <p:spPr>
          <a:xfrm>
            <a:off x="6903720" y="205740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Persistence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Smoothed and merged; only periods over 12 h are kept.</a:t>
            </a:r>
            <a:endParaRPr lang="en-US" sz="1600" dirty="0"/>
          </a:p>
        </p:txBody>
      </p:sp>
      <p:sp>
        <p:nvSpPr>
          <p:cNvPr id="15" name="formula bar"/>
          <p:cNvSpPr/>
          <p:nvPr/>
        </p:nvSpPr>
        <p:spPr>
          <a:xfrm>
            <a:off x="548640" y="3749040"/>
            <a:ext cx="8046720" cy="77724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formula"/>
          <p:cNvSpPr txBox="1"/>
          <p:nvPr/>
        </p:nvSpPr>
        <p:spPr>
          <a:xfrm>
            <a:off x="822960" y="37490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(value − normal) / spread</a:t>
            </a:r>
            <a:endParaRPr lang="en-US" sz="2200" dirty="0"/>
          </a:p>
        </p:txBody>
      </p:sp>
      <p:sp>
        <p:nvSpPr>
          <p:cNvPr id="17" name="formula legend"/>
          <p:cNvSpPr txBox="1"/>
          <p:nvPr/>
        </p:nvSpPr>
        <p:spPr>
          <a:xfrm>
            <a:off x="4937760" y="3749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normal = 45-day rolling median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spread = 1.4826 × MAD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Where the Abnormal Periods Are</a:t>
            </a:r>
            <a:endParaRPr lang="en-US" sz="3600" dirty="0"/>
          </a:p>
        </p:txBody>
      </p:sp>
      <p:sp>
        <p:nvSpPr>
          <p:cNvPr id="3" name="big number"/>
          <p:cNvSpPr txBox="1"/>
          <p:nvPr/>
        </p:nvSpPr>
        <p:spPr>
          <a:xfrm>
            <a:off x="548640" y="1234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8000" dirty="0"/>
          </a:p>
        </p:txBody>
      </p:sp>
      <p:sp>
        <p:nvSpPr>
          <p:cNvPr id="4" name="big number caption"/>
          <p:cNvSpPr txBox="1"/>
          <p:nvPr/>
        </p:nvSpPr>
        <p:spPr>
          <a:xfrm>
            <a:off x="548640" y="2468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abnormal periods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≈1,480 h, about 6% of ~24,000 running hours</a:t>
            </a:r>
            <a:endParaRPr lang="en-US" sz="1600" dirty="0"/>
          </a:p>
        </p:txBody>
      </p:sp>
      <p:sp>
        <p:nvSpPr>
          <p:cNvPr id="5" name="rule text"/>
          <p:cNvSpPr txBox="1"/>
          <p:nvPr/>
        </p:nvSpPr>
        <p:spPr>
          <a:xfrm>
            <a:off x="548640" y="35204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Flagged when a feature stays ≥ 5 “normal wiggles” from normal for 12+ hours. The feature out of range longest names the cause.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566160" y="1280160"/>
          <a:ext cx="50292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when text"/>
          <p:cNvSpPr txBox="1"/>
          <p:nvPr/>
        </p:nvSpPr>
        <p:spPr>
          <a:xfrm>
            <a:off x="3566160" y="3611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Build-up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Mar–May 2018 (incl. a 12-day blockage), Feb–Mar 2019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Instability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Feb–Mar 2017, Oct 2017, Dec 2019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Findings</a:t>
            </a:r>
            <a:endParaRPr lang="en-US" sz="3600" dirty="0"/>
          </a:p>
        </p:txBody>
      </p:sp>
      <p:sp>
        <p:nvSpPr>
          <p:cNvPr id="3" name="cell0"/>
          <p:cNvSpPr/>
          <p:nvPr/>
        </p:nvSpPr>
        <p:spPr>
          <a:xfrm>
            <a:off x="548640" y="1325880"/>
            <a:ext cx="3931920" cy="15087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tat0"/>
          <p:cNvSpPr txBox="1"/>
          <p:nvPr/>
        </p:nvSpPr>
        <p:spPr>
          <a:xfrm>
            <a:off x="777240" y="1554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~85%</a:t>
            </a:r>
            <a:endParaRPr lang="en-US" sz="3000" dirty="0"/>
          </a:p>
        </p:txBody>
      </p:sp>
      <p:sp>
        <p:nvSpPr>
          <p:cNvPr id="5" name="finding0"/>
          <p:cNvSpPr txBox="1"/>
          <p:nvPr/>
        </p:nvSpPr>
        <p:spPr>
          <a:xfrm>
            <a:off x="2148840" y="14630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Build-up dominates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Inlet gas stays ~900 °C while the outlet runs cold: hot gas is not flowing through the cyclone.</a:t>
            </a:r>
            <a:endParaRPr lang="en-US" sz="1500" dirty="0"/>
          </a:p>
        </p:txBody>
      </p:sp>
      <p:sp>
        <p:nvSpPr>
          <p:cNvPr id="6" name="cell1"/>
          <p:cNvSpPr/>
          <p:nvPr/>
        </p:nvSpPr>
        <p:spPr>
          <a:xfrm>
            <a:off x="4663440" y="1325880"/>
            <a:ext cx="393192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1"/>
          <p:cNvSpPr txBox="1"/>
          <p:nvPr/>
        </p:nvSpPr>
        <p:spPr>
          <a:xfrm>
            <a:off x="4892040" y="1554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wks</a:t>
            </a:r>
            <a:endParaRPr lang="en-US" sz="3000" dirty="0"/>
          </a:p>
        </p:txBody>
      </p:sp>
      <p:sp>
        <p:nvSpPr>
          <p:cNvPr id="8" name="finding1"/>
          <p:cNvSpPr txBox="1"/>
          <p:nvPr/>
        </p:nvSpPr>
        <p:spPr>
          <a:xfrm>
            <a:off x="6263640" y="14630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Slow build, sudden release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ΔT climbs for up to two weeks in 2018, then collapses within hours.</a:t>
            </a:r>
            <a:endParaRPr lang="en-US" sz="1500" dirty="0"/>
          </a:p>
        </p:txBody>
      </p:sp>
      <p:sp>
        <p:nvSpPr>
          <p:cNvPr id="9" name="cell2"/>
          <p:cNvSpPr/>
          <p:nvPr/>
        </p:nvSpPr>
        <p:spPr>
          <a:xfrm>
            <a:off x="548640" y="2971800"/>
            <a:ext cx="393192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2"/>
          <p:cNvSpPr txBox="1"/>
          <p:nvPr/>
        </p:nvSpPr>
        <p:spPr>
          <a:xfrm>
            <a:off x="777240" y="3200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3000" dirty="0"/>
          </a:p>
        </p:txBody>
      </p:sp>
      <p:sp>
        <p:nvSpPr>
          <p:cNvPr id="11" name="finding2"/>
          <p:cNvSpPr txBox="1"/>
          <p:nvPr/>
        </p:nvSpPr>
        <p:spPr>
          <a:xfrm>
            <a:off x="2148840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Early warning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ΔT starts rising days before the alarm line; a ΔT trend alert would help.</a:t>
            </a:r>
            <a:endParaRPr lang="en-US" sz="1500" dirty="0"/>
          </a:p>
        </p:txBody>
      </p:sp>
      <p:sp>
        <p:nvSpPr>
          <p:cNvPr id="12" name="cell3"/>
          <p:cNvSpPr/>
          <p:nvPr/>
        </p:nvSpPr>
        <p:spPr>
          <a:xfrm>
            <a:off x="4663440" y="2971800"/>
            <a:ext cx="393192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3"/>
          <p:cNvSpPr txBox="1"/>
          <p:nvPr/>
        </p:nvSpPr>
        <p:spPr>
          <a:xfrm>
            <a:off x="4892040" y="3200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</a:t>
            </a:r>
            <a:endParaRPr lang="en-US" sz="3000" dirty="0"/>
          </a:p>
        </p:txBody>
      </p:sp>
      <p:sp>
        <p:nvSpPr>
          <p:cNvPr id="14" name="finding3"/>
          <p:cNvSpPr txBox="1"/>
          <p:nvPr/>
        </p:nvSpPr>
        <p:spPr>
          <a:xfrm>
            <a:off x="6263640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Hidden instabilities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Early-2017 draft surges hid behind normal temperatures; temperature-only checks miss them.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">
  <a:themeElements>
    <a:clrScheme name="Mono">
      <a:dk1>
        <a:srgbClr val="000000"/>
      </a:dk1>
      <a:lt1>
        <a:srgbClr val="FFFFFF"/>
      </a:lt1>
      <a:dk2>
        <a:srgbClr val="595959"/>
      </a:dk2>
      <a:lt2>
        <a:srgbClr val="F2F2F2"/>
      </a:lt2>
      <a:accent1>
        <a:srgbClr val="000000"/>
      </a:accent1>
      <a:accent2>
        <a:srgbClr val="404040"/>
      </a:accent2>
      <a:accent3>
        <a:srgbClr val="7F7F7F"/>
      </a:accent3>
      <a:accent4>
        <a:srgbClr val="A6A6A6"/>
      </a:accent4>
      <a:accent5>
        <a:srgbClr val="D9D9D9"/>
      </a:accent5>
      <a:accent6>
        <a:srgbClr val="262626"/>
      </a:accent6>
      <a:hlink>
        <a:srgbClr val="000000"/>
      </a:hlink>
      <a:folHlink>
        <a:srgbClr val="595959"/>
      </a:folHlink>
    </a:clrScheme>
    <a:fontScheme name="Mon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Cyclone Preheater – Abnormal Operating Periods</dc:title>
  <dc:subject>PptxGenJS Presentation</dc:subject>
  <dc:creator>PptxGenJS</dc:creator>
  <cp:lastModifiedBy>PptxGenJS</cp:lastModifiedBy>
  <cp:revision>1</cp:revision>
  <dcterms:created xsi:type="dcterms:W3CDTF">2026-10-07T08:20:52Z</dcterms:created>
  <dcterms:modified xsi:type="dcterms:W3CDTF">2026-10-07T08:20:52Z</dcterms:modified>
</cp:coreProperties>
</file>